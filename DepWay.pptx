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0" r:id="rId1"/>
  </p:sldMasterIdLst>
  <p:notesMasterIdLst>
    <p:notesMasterId r:id="rId15"/>
  </p:notesMasterIdLst>
  <p:sldIdLst>
    <p:sldId id="256" r:id="rId2"/>
    <p:sldId id="257" r:id="rId3"/>
    <p:sldId id="258" r:id="rId4"/>
    <p:sldId id="268" r:id="rId5"/>
    <p:sldId id="269" r:id="rId6"/>
    <p:sldId id="259" r:id="rId7"/>
    <p:sldId id="260" r:id="rId8"/>
    <p:sldId id="261" r:id="rId9"/>
    <p:sldId id="263" r:id="rId10"/>
    <p:sldId id="264" r:id="rId11"/>
    <p:sldId id="265" r:id="rId12"/>
    <p:sldId id="266" r:id="rId13"/>
    <p:sldId id="267" r:id="rId1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19B0882-F717-4049-BF07-251CE05192C8}">
  <a:tblStyle styleId="{719B0882-F717-4049-BF07-251CE05192C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82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/>
          </a:p>
        </p:txBody>
      </p:sp>
      <p:sp>
        <p:nvSpPr>
          <p:cNvPr id="112" name="Google Shape;11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/>
          </a:p>
        </p:txBody>
      </p:sp>
      <p:sp>
        <p:nvSpPr>
          <p:cNvPr id="121" name="Google Shape;12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>
          <a:extLst>
            <a:ext uri="{FF2B5EF4-FFF2-40B4-BE49-F238E27FC236}">
              <a16:creationId xmlns:a16="http://schemas.microsoft.com/office/drawing/2014/main" id="{23F94F39-E1FC-6DFD-D562-B573A71411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:notes">
            <a:extLst>
              <a:ext uri="{FF2B5EF4-FFF2-40B4-BE49-F238E27FC236}">
                <a16:creationId xmlns:a16="http://schemas.microsoft.com/office/drawing/2014/main" id="{347FF861-A5AC-E0A2-52D8-A068E783B22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/>
          </a:p>
        </p:txBody>
      </p:sp>
      <p:sp>
        <p:nvSpPr>
          <p:cNvPr id="121" name="Google Shape;121;p3:notes">
            <a:extLst>
              <a:ext uri="{FF2B5EF4-FFF2-40B4-BE49-F238E27FC236}">
                <a16:creationId xmlns:a16="http://schemas.microsoft.com/office/drawing/2014/main" id="{6AD979B8-1213-20A8-CCD8-750AE97091D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39097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>
          <a:extLst>
            <a:ext uri="{FF2B5EF4-FFF2-40B4-BE49-F238E27FC236}">
              <a16:creationId xmlns:a16="http://schemas.microsoft.com/office/drawing/2014/main" id="{21768D43-9685-C295-264B-165969AC7A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:notes">
            <a:extLst>
              <a:ext uri="{FF2B5EF4-FFF2-40B4-BE49-F238E27FC236}">
                <a16:creationId xmlns:a16="http://schemas.microsoft.com/office/drawing/2014/main" id="{232D0454-B843-E8B1-A495-EA7ACDD16D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/>
          </a:p>
        </p:txBody>
      </p:sp>
      <p:sp>
        <p:nvSpPr>
          <p:cNvPr id="121" name="Google Shape;121;p3:notes">
            <a:extLst>
              <a:ext uri="{FF2B5EF4-FFF2-40B4-BE49-F238E27FC236}">
                <a16:creationId xmlns:a16="http://schemas.microsoft.com/office/drawing/2014/main" id="{031A0DEE-1234-3758-EB05-58F9546D707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8276403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/>
          </a:p>
        </p:txBody>
      </p:sp>
      <p:sp>
        <p:nvSpPr>
          <p:cNvPr id="130" name="Google Shape;13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ab9cb2c1b8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/>
          </a:p>
        </p:txBody>
      </p:sp>
      <p:sp>
        <p:nvSpPr>
          <p:cNvPr id="139" name="Google Shape;139;g3ab9cb2c1b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ab9cb2c1b8_0_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/>
          </a:p>
        </p:txBody>
      </p:sp>
      <p:sp>
        <p:nvSpPr>
          <p:cNvPr id="148" name="Google Shape;148;g3ab9cb2c1b8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>
          <a:extLst>
            <a:ext uri="{FF2B5EF4-FFF2-40B4-BE49-F238E27FC236}">
              <a16:creationId xmlns:a16="http://schemas.microsoft.com/office/drawing/2014/main" id="{106D0602-DE9B-AA9B-47F7-A0A3FCAF72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ab9cb2c1b8_0_28:notes">
            <a:extLst>
              <a:ext uri="{FF2B5EF4-FFF2-40B4-BE49-F238E27FC236}">
                <a16:creationId xmlns:a16="http://schemas.microsoft.com/office/drawing/2014/main" id="{9CD7F161-D233-4E67-F251-C638FE1AF49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/>
          </a:p>
        </p:txBody>
      </p:sp>
      <p:sp>
        <p:nvSpPr>
          <p:cNvPr id="158" name="Google Shape;158;g3ab9cb2c1b8_0_28:notes">
            <a:extLst>
              <a:ext uri="{FF2B5EF4-FFF2-40B4-BE49-F238E27FC236}">
                <a16:creationId xmlns:a16="http://schemas.microsoft.com/office/drawing/2014/main" id="{42A9F371-97EA-A3B3-890F-DE1C2411FB7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67458685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>
          <a:extLst>
            <a:ext uri="{FF2B5EF4-FFF2-40B4-BE49-F238E27FC236}">
              <a16:creationId xmlns:a16="http://schemas.microsoft.com/office/drawing/2014/main" id="{DA41294C-3D03-7D22-E223-5A8B30208D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ab9cb2c1b8_0_28:notes">
            <a:extLst>
              <a:ext uri="{FF2B5EF4-FFF2-40B4-BE49-F238E27FC236}">
                <a16:creationId xmlns:a16="http://schemas.microsoft.com/office/drawing/2014/main" id="{155A653F-5B71-74BC-AD6F-3A38279AE20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/>
          </a:p>
        </p:txBody>
      </p:sp>
      <p:sp>
        <p:nvSpPr>
          <p:cNvPr id="158" name="Google Shape;158;g3ab9cb2c1b8_0_28:notes">
            <a:extLst>
              <a:ext uri="{FF2B5EF4-FFF2-40B4-BE49-F238E27FC236}">
                <a16:creationId xmlns:a16="http://schemas.microsoft.com/office/drawing/2014/main" id="{18803842-0460-F946-F08B-EADA36746B2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68484894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>
          <a:extLst>
            <a:ext uri="{FF2B5EF4-FFF2-40B4-BE49-F238E27FC236}">
              <a16:creationId xmlns:a16="http://schemas.microsoft.com/office/drawing/2014/main" id="{ECA0AE96-A461-B422-4CF7-835399753B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ab9cb2c1b8_0_28:notes">
            <a:extLst>
              <a:ext uri="{FF2B5EF4-FFF2-40B4-BE49-F238E27FC236}">
                <a16:creationId xmlns:a16="http://schemas.microsoft.com/office/drawing/2014/main" id="{C157274D-16D2-116A-B9CA-1F5BB34412B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/>
          </a:p>
        </p:txBody>
      </p:sp>
      <p:sp>
        <p:nvSpPr>
          <p:cNvPr id="158" name="Google Shape;158;g3ab9cb2c1b8_0_28:notes">
            <a:extLst>
              <a:ext uri="{FF2B5EF4-FFF2-40B4-BE49-F238E27FC236}">
                <a16:creationId xmlns:a16="http://schemas.microsoft.com/office/drawing/2014/main" id="{142D7079-A235-DB1A-53EF-52A0833D7B7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28216537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>
          <a:extLst>
            <a:ext uri="{FF2B5EF4-FFF2-40B4-BE49-F238E27FC236}">
              <a16:creationId xmlns:a16="http://schemas.microsoft.com/office/drawing/2014/main" id="{DBC2783D-202C-026F-D9C2-6B97079356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ab9cb2c1b8_0_28:notes">
            <a:extLst>
              <a:ext uri="{FF2B5EF4-FFF2-40B4-BE49-F238E27FC236}">
                <a16:creationId xmlns:a16="http://schemas.microsoft.com/office/drawing/2014/main" id="{79B842BD-D2D8-7681-80E9-4FE9A54387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/>
          </a:p>
        </p:txBody>
      </p:sp>
      <p:sp>
        <p:nvSpPr>
          <p:cNvPr id="158" name="Google Shape;158;g3ab9cb2c1b8_0_28:notes">
            <a:extLst>
              <a:ext uri="{FF2B5EF4-FFF2-40B4-BE49-F238E27FC236}">
                <a16:creationId xmlns:a16="http://schemas.microsoft.com/office/drawing/2014/main" id="{307963DD-36A7-937A-ADE9-ED0010BE35B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28518042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>
          <a:extLst>
            <a:ext uri="{FF2B5EF4-FFF2-40B4-BE49-F238E27FC236}">
              <a16:creationId xmlns:a16="http://schemas.microsoft.com/office/drawing/2014/main" id="{353A3D84-2EB7-27DA-4699-633D84E9E7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ab9cb2c1b8_0_28:notes">
            <a:extLst>
              <a:ext uri="{FF2B5EF4-FFF2-40B4-BE49-F238E27FC236}">
                <a16:creationId xmlns:a16="http://schemas.microsoft.com/office/drawing/2014/main" id="{D6355F10-26FB-202F-C97D-F2E276D739E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/>
          </a:p>
        </p:txBody>
      </p:sp>
      <p:sp>
        <p:nvSpPr>
          <p:cNvPr id="158" name="Google Shape;158;g3ab9cb2c1b8_0_28:notes">
            <a:extLst>
              <a:ext uri="{FF2B5EF4-FFF2-40B4-BE49-F238E27FC236}">
                <a16:creationId xmlns:a16="http://schemas.microsoft.com/office/drawing/2014/main" id="{9F05A655-40A0-CA51-CB8B-C45B4C2C3C5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6646731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3" name="Google Shape;23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2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3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4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40" name="Google Shape;40;p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711512" y="330213"/>
            <a:ext cx="1284576" cy="637759"/>
          </a:xfrm>
          <a:prstGeom prst="rect">
            <a:avLst/>
          </a:prstGeom>
          <a:noFill/>
          <a:ln>
            <a:noFill/>
          </a:ln>
        </p:spPr>
      </p:pic>
      <p:pic>
        <p:nvPicPr>
          <p:cNvPr id="41" name="Google Shape;41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3317" y="0"/>
            <a:ext cx="1489765" cy="1386637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Google Shape;44;p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635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" name="Google Shape;45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11512" y="330213"/>
            <a:ext cx="1284576" cy="637759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6"/>
          <p:cNvSpPr/>
          <p:nvPr/>
        </p:nvSpPr>
        <p:spPr>
          <a:xfrm>
            <a:off x="838200" y="6338919"/>
            <a:ext cx="2743200" cy="382556"/>
          </a:xfrm>
          <a:custGeom>
            <a:avLst/>
            <a:gdLst/>
            <a:ahLst/>
            <a:cxnLst/>
            <a:rect l="l" t="t" r="r" b="b"/>
            <a:pathLst>
              <a:path w="1026026" h="189485" extrusionOk="0">
                <a:moveTo>
                  <a:pt x="0" y="0"/>
                </a:moveTo>
                <a:lnTo>
                  <a:pt x="1026026" y="0"/>
                </a:lnTo>
                <a:lnTo>
                  <a:pt x="1026026" y="189485"/>
                </a:lnTo>
                <a:lnTo>
                  <a:pt x="0" y="189485"/>
                </a:lnTo>
                <a:close/>
              </a:path>
            </a:pathLst>
          </a:custGeom>
          <a:solidFill>
            <a:srgbClr val="1869A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6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3317" y="0"/>
            <a:ext cx="1489765" cy="1386637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6"/>
          <p:cNvSpPr/>
          <p:nvPr/>
        </p:nvSpPr>
        <p:spPr>
          <a:xfrm>
            <a:off x="10933155" y="6344015"/>
            <a:ext cx="466090" cy="431923"/>
          </a:xfrm>
          <a:custGeom>
            <a:avLst/>
            <a:gdLst/>
            <a:ahLst/>
            <a:cxnLst/>
            <a:rect l="l" t="t" r="r" b="b"/>
            <a:pathLst>
              <a:path w="1026026" h="189485" extrusionOk="0">
                <a:moveTo>
                  <a:pt x="0" y="0"/>
                </a:moveTo>
                <a:lnTo>
                  <a:pt x="1026026" y="0"/>
                </a:lnTo>
                <a:lnTo>
                  <a:pt x="1026026" y="189485"/>
                </a:lnTo>
                <a:lnTo>
                  <a:pt x="0" y="189485"/>
                </a:lnTo>
                <a:close/>
              </a:path>
            </a:pathLst>
          </a:custGeom>
          <a:solidFill>
            <a:srgbClr val="1869A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7" name="Google Shape;57;p7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8" name="Google Shape;58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7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8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8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4" name="Google Shape;64;p8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5" name="Google Shape;65;p8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6" name="Google Shape;66;p8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7" name="Google Shape;67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8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73" name="Google Shape;73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4" name="Google Shape;74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9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80" name="Google Shape;80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81" name="Google Shape;81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0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7" name="Google Shape;87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1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3" name="Google Shape;93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2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13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1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10711512" y="330213"/>
            <a:ext cx="1284576" cy="637759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1"/>
          <p:cNvSpPr/>
          <p:nvPr/>
        </p:nvSpPr>
        <p:spPr>
          <a:xfrm>
            <a:off x="838200" y="6338919"/>
            <a:ext cx="2743200" cy="382556"/>
          </a:xfrm>
          <a:custGeom>
            <a:avLst/>
            <a:gdLst/>
            <a:ahLst/>
            <a:cxnLst/>
            <a:rect l="l" t="t" r="r" b="b"/>
            <a:pathLst>
              <a:path w="1026026" h="189485" extrusionOk="0">
                <a:moveTo>
                  <a:pt x="0" y="0"/>
                </a:moveTo>
                <a:lnTo>
                  <a:pt x="1026026" y="0"/>
                </a:lnTo>
                <a:lnTo>
                  <a:pt x="1026026" y="189485"/>
                </a:lnTo>
                <a:lnTo>
                  <a:pt x="0" y="189485"/>
                </a:lnTo>
                <a:close/>
              </a:path>
            </a:pathLst>
          </a:custGeom>
          <a:solidFill>
            <a:srgbClr val="1869A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" name="Google Shape;13;p1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93317" y="0"/>
            <a:ext cx="1489765" cy="1386637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1"/>
          <p:cNvSpPr/>
          <p:nvPr/>
        </p:nvSpPr>
        <p:spPr>
          <a:xfrm>
            <a:off x="10974189" y="6344015"/>
            <a:ext cx="466090" cy="431923"/>
          </a:xfrm>
          <a:custGeom>
            <a:avLst/>
            <a:gdLst/>
            <a:ahLst/>
            <a:cxnLst/>
            <a:rect l="l" t="t" r="r" b="b"/>
            <a:pathLst>
              <a:path w="1026026" h="189485" extrusionOk="0">
                <a:moveTo>
                  <a:pt x="0" y="0"/>
                </a:moveTo>
                <a:lnTo>
                  <a:pt x="1026026" y="0"/>
                </a:lnTo>
                <a:lnTo>
                  <a:pt x="1026026" y="189485"/>
                </a:lnTo>
                <a:lnTo>
                  <a:pt x="0" y="189485"/>
                </a:lnTo>
                <a:close/>
              </a:path>
            </a:pathLst>
          </a:custGeom>
          <a:solidFill>
            <a:srgbClr val="1869A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" name="Google Shape;16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7" name="Google Shape;17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8" name="Google Shape;18;p1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9" name="Google Shape;19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4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 b="1">
                <a:solidFill>
                  <a:srgbClr val="057954"/>
                </a:solidFill>
              </a:rPr>
              <a:t>DepWay</a:t>
            </a:r>
            <a:r>
              <a:rPr lang="en-US" b="1">
                <a:solidFill>
                  <a:srgbClr val="2AAF82"/>
                </a:solidFill>
              </a:rPr>
              <a:t> </a:t>
            </a:r>
            <a:endParaRPr/>
          </a:p>
        </p:txBody>
      </p:sp>
      <p:sp>
        <p:nvSpPr>
          <p:cNvPr id="106" name="Google Shape;106;p14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4064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Presenter: Nour Elden Hany</a:t>
            </a:r>
            <a:br>
              <a:rPr lang="en-US"/>
            </a:br>
            <a:r>
              <a:rPr lang="en-US"/>
              <a:t>Date: 30/11/2025</a:t>
            </a:r>
            <a:endParaRPr/>
          </a:p>
        </p:txBody>
      </p:sp>
      <p:sp>
        <p:nvSpPr>
          <p:cNvPr id="107" name="Google Shape;107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  <p:pic>
        <p:nvPicPr>
          <p:cNvPr id="108" name="Google Shape;108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010943" y="6291124"/>
            <a:ext cx="1362250" cy="365125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11/30/25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11/30/25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971364" y="796537"/>
            <a:ext cx="10515600" cy="580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Project Idea</a:t>
            </a:r>
            <a:endParaRPr sz="2400" b="0" i="0" u="none" strike="noStrike" cap="none">
              <a:solidFill>
                <a:srgbClr val="0D0D0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15"/>
          <p:cNvSpPr txBox="1"/>
          <p:nvPr/>
        </p:nvSpPr>
        <p:spPr>
          <a:xfrm>
            <a:off x="1104529" y="1352145"/>
            <a:ext cx="10382435" cy="48737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Problem Being Solved</a:t>
            </a:r>
            <a:endParaRPr sz="2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1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lang="en-US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Developers spend a lot of time manually creating Dockerfiles and configuring projects for containerization.</a:t>
            </a:r>
            <a:endParaRPr/>
          </a:p>
          <a:p>
            <a:pPr marL="285750" marR="0" lvl="1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lang="en-US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Managing multi-language projects (Node.js, Python, Java, PHP, Ruby, static HTML) requires different Docker setups.</a:t>
            </a:r>
            <a:endParaRPr/>
          </a:p>
          <a:p>
            <a:pPr marL="285750" marR="0" lvl="1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lang="en-US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Deployment pipelines become error-prone and inconsistent without standardization.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Proposed Solution (High-Level Idea)</a:t>
            </a:r>
            <a:endParaRPr sz="2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 automated platform that:</a:t>
            </a:r>
            <a:endParaRPr/>
          </a:p>
          <a:p>
            <a:pPr marL="285750" marR="0" lvl="1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lang="en-US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Detects the project’s language and framework from GitHub repositories.</a:t>
            </a:r>
            <a:endParaRPr/>
          </a:p>
          <a:p>
            <a:pPr marL="285750" marR="0" lvl="1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lang="en-US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Generates the appropriate </a:t>
            </a:r>
            <a:r>
              <a:rPr lang="en-US" sz="1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Dockerfile</a:t>
            </a:r>
            <a:r>
              <a:rPr lang="en-US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and optionally </a:t>
            </a:r>
            <a:r>
              <a:rPr lang="en-US" sz="1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docker-compose.yml</a:t>
            </a:r>
            <a:r>
              <a:rPr lang="en-US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marL="285750" marR="0" lvl="1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lang="en-US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Builds Docker images and pushes them to user’s Docker Hub.</a:t>
            </a:r>
            <a:endParaRPr/>
          </a:p>
          <a:p>
            <a:pPr marL="285750" marR="0" lvl="1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lang="en-US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Provides API endpoints to manage images and containers.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Unique Value Proposition</a:t>
            </a:r>
            <a:endParaRPr sz="2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lang="en-US" sz="1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Time-saving</a:t>
            </a:r>
            <a:r>
              <a:rPr lang="en-US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Developers can dockerize projects in minutes.</a:t>
            </a:r>
            <a:endParaRPr/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lang="en-US" sz="1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Multi-language support</a:t>
            </a:r>
            <a:r>
              <a:rPr lang="en-US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Works with JavaScript (Node.js/React/Vue), Python, Java, PHP, Ruby, and static HTML.</a:t>
            </a:r>
            <a:endParaRPr/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lang="en-US" sz="1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Automation</a:t>
            </a:r>
            <a:r>
              <a:rPr lang="en-US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No manual Docker setup needed.</a:t>
            </a:r>
            <a:endParaRPr/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lang="en-US" sz="1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Flexibility</a:t>
            </a:r>
            <a:r>
              <a:rPr lang="en-US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Supports both single-service and multi-service projects.</a:t>
            </a:r>
            <a:endParaRPr/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lang="en-US" sz="1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Developer-friendly</a:t>
            </a:r>
            <a:r>
              <a:rPr lang="en-US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Can integrate with existing CI/CD pipelines and simplifies deployment.</a:t>
            </a:r>
            <a:endParaRPr/>
          </a:p>
        </p:txBody>
      </p:sp>
      <p:pic>
        <p:nvPicPr>
          <p:cNvPr id="118" name="Google Shape;118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010943" y="6291124"/>
            <a:ext cx="1362250" cy="365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11/30/25</a:t>
            </a:r>
            <a:endParaRPr/>
          </a:p>
        </p:txBody>
      </p:sp>
      <p:sp>
        <p:nvSpPr>
          <p:cNvPr id="124" name="Google Shape;124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971364" y="796537"/>
            <a:ext cx="10515600" cy="580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Project Wireframe</a:t>
            </a:r>
            <a:endParaRPr sz="2400" b="0" i="0" u="none" strike="noStrike" cap="none">
              <a:solidFill>
                <a:srgbClr val="0D0D0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7" name="Google Shape;127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010943" y="6291124"/>
            <a:ext cx="1362250" cy="365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Google Shape;174;p7">
            <a:extLst>
              <a:ext uri="{FF2B5EF4-FFF2-40B4-BE49-F238E27FC236}">
                <a16:creationId xmlns:a16="http://schemas.microsoft.com/office/drawing/2014/main" id="{53A14569-ADFD-9A58-A920-A113FB03BDA7}"/>
              </a:ext>
            </a:extLst>
          </p:cNvPr>
          <p:cNvPicPr preferRelativeResize="0"/>
          <p:nvPr/>
        </p:nvPicPr>
        <p:blipFill>
          <a:blip r:embed="rId4"/>
          <a:srcRect l="11305" r="11305"/>
          <a:stretch/>
        </p:blipFill>
        <p:spPr>
          <a:xfrm>
            <a:off x="426190" y="1856092"/>
            <a:ext cx="4933750" cy="3145809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 cmpd="sng">
            <a:solidFill>
              <a:srgbClr val="336EA8"/>
            </a:solidFill>
            <a:prstDash val="solid"/>
            <a:miter lim="800000"/>
            <a:headEnd type="none" w="sm" len="sm"/>
            <a:tailEnd type="none" w="sm" len="sm"/>
          </a:ln>
          <a:effectLst>
            <a:reflection stA="28000" endPos="28000" dist="5000" dir="5400000" sy="-100000" algn="bl" rotWithShape="0"/>
          </a:effectLst>
        </p:spPr>
      </p:pic>
      <p:pic>
        <p:nvPicPr>
          <p:cNvPr id="3" name="Google Shape;174;p7">
            <a:extLst>
              <a:ext uri="{FF2B5EF4-FFF2-40B4-BE49-F238E27FC236}">
                <a16:creationId xmlns:a16="http://schemas.microsoft.com/office/drawing/2014/main" id="{E0DADC58-A772-2BBF-E19B-B3907EDECEA9}"/>
              </a:ext>
            </a:extLst>
          </p:cNvPr>
          <p:cNvPicPr preferRelativeResize="0"/>
          <p:nvPr/>
        </p:nvPicPr>
        <p:blipFill>
          <a:blip r:embed="rId5"/>
          <a:srcRect t="4623" b="4623"/>
          <a:stretch/>
        </p:blipFill>
        <p:spPr>
          <a:xfrm>
            <a:off x="6488349" y="1856091"/>
            <a:ext cx="5212495" cy="3145809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 cmpd="sng">
            <a:solidFill>
              <a:srgbClr val="336EA8"/>
            </a:solidFill>
            <a:prstDash val="solid"/>
            <a:miter lim="800000"/>
            <a:headEnd type="none" w="sm" len="sm"/>
            <a:tailEnd type="none" w="sm" len="sm"/>
          </a:ln>
          <a:effectLst>
            <a:reflection stA="28000" endPos="28000" dist="5000" dir="5400000" sy="-100000" algn="bl" rotWithShape="0"/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>
          <a:extLst>
            <a:ext uri="{FF2B5EF4-FFF2-40B4-BE49-F238E27FC236}">
              <a16:creationId xmlns:a16="http://schemas.microsoft.com/office/drawing/2014/main" id="{C2C65230-2945-232F-9338-C8DB85A9F0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6">
            <a:extLst>
              <a:ext uri="{FF2B5EF4-FFF2-40B4-BE49-F238E27FC236}">
                <a16:creationId xmlns:a16="http://schemas.microsoft.com/office/drawing/2014/main" id="{F8FEE6FE-ED3D-6F7D-32F1-87C5896158F5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11/30/25</a:t>
            </a:r>
            <a:endParaRPr/>
          </a:p>
        </p:txBody>
      </p:sp>
      <p:sp>
        <p:nvSpPr>
          <p:cNvPr id="124" name="Google Shape;124;p16">
            <a:extLst>
              <a:ext uri="{FF2B5EF4-FFF2-40B4-BE49-F238E27FC236}">
                <a16:creationId xmlns:a16="http://schemas.microsoft.com/office/drawing/2014/main" id="{2A5E2C9C-0F4B-276F-061C-162E3E3D1DC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sp>
        <p:nvSpPr>
          <p:cNvPr id="125" name="Google Shape;125;p16">
            <a:extLst>
              <a:ext uri="{FF2B5EF4-FFF2-40B4-BE49-F238E27FC236}">
                <a16:creationId xmlns:a16="http://schemas.microsoft.com/office/drawing/2014/main" id="{5113A133-88FF-4C2E-CFD5-64404CFF6B3A}"/>
              </a:ext>
            </a:extLst>
          </p:cNvPr>
          <p:cNvSpPr txBox="1"/>
          <p:nvPr/>
        </p:nvSpPr>
        <p:spPr>
          <a:xfrm>
            <a:off x="971364" y="796537"/>
            <a:ext cx="10515600" cy="580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Project Wireframe</a:t>
            </a:r>
            <a:endParaRPr sz="2400" b="0" i="0" u="none" strike="noStrike" cap="none">
              <a:solidFill>
                <a:srgbClr val="0D0D0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7" name="Google Shape;127;p16">
            <a:extLst>
              <a:ext uri="{FF2B5EF4-FFF2-40B4-BE49-F238E27FC236}">
                <a16:creationId xmlns:a16="http://schemas.microsoft.com/office/drawing/2014/main" id="{9846794A-6B6D-FE85-AD7F-C40BE0945BA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010943" y="6291124"/>
            <a:ext cx="1362250" cy="365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Google Shape;174;p7">
            <a:extLst>
              <a:ext uri="{FF2B5EF4-FFF2-40B4-BE49-F238E27FC236}">
                <a16:creationId xmlns:a16="http://schemas.microsoft.com/office/drawing/2014/main" id="{616518E0-8256-9883-4D36-DCC990BEF19B}"/>
              </a:ext>
            </a:extLst>
          </p:cNvPr>
          <p:cNvPicPr preferRelativeResize="0"/>
          <p:nvPr/>
        </p:nvPicPr>
        <p:blipFill>
          <a:blip r:embed="rId4"/>
          <a:srcRect l="11905" r="11905"/>
          <a:stretch/>
        </p:blipFill>
        <p:spPr>
          <a:xfrm>
            <a:off x="426190" y="1856092"/>
            <a:ext cx="4933750" cy="3145809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 cmpd="sng">
            <a:solidFill>
              <a:srgbClr val="336EA8"/>
            </a:solidFill>
            <a:prstDash val="solid"/>
            <a:miter lim="800000"/>
            <a:headEnd type="none" w="sm" len="sm"/>
            <a:tailEnd type="none" w="sm" len="sm"/>
          </a:ln>
          <a:effectLst>
            <a:reflection stA="28000" endPos="28000" dist="5000" dir="5400000" sy="-100000" algn="bl" rotWithShape="0"/>
          </a:effectLst>
        </p:spPr>
      </p:pic>
      <p:pic>
        <p:nvPicPr>
          <p:cNvPr id="3" name="Google Shape;174;p7">
            <a:extLst>
              <a:ext uri="{FF2B5EF4-FFF2-40B4-BE49-F238E27FC236}">
                <a16:creationId xmlns:a16="http://schemas.microsoft.com/office/drawing/2014/main" id="{7DB60480-0226-3C79-970E-D91B54675AFE}"/>
              </a:ext>
            </a:extLst>
          </p:cNvPr>
          <p:cNvPicPr preferRelativeResize="0"/>
          <p:nvPr/>
        </p:nvPicPr>
        <p:blipFill>
          <a:blip r:embed="rId5"/>
          <a:srcRect l="9979" r="9979"/>
          <a:stretch/>
        </p:blipFill>
        <p:spPr>
          <a:xfrm>
            <a:off x="6488349" y="1856091"/>
            <a:ext cx="5212495" cy="3145809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 cmpd="sng">
            <a:solidFill>
              <a:srgbClr val="336EA8"/>
            </a:solidFill>
            <a:prstDash val="solid"/>
            <a:miter lim="800000"/>
            <a:headEnd type="none" w="sm" len="sm"/>
            <a:tailEnd type="none" w="sm" len="sm"/>
          </a:ln>
          <a:effectLst>
            <a:reflection stA="2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8698037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>
          <a:extLst>
            <a:ext uri="{FF2B5EF4-FFF2-40B4-BE49-F238E27FC236}">
              <a16:creationId xmlns:a16="http://schemas.microsoft.com/office/drawing/2014/main" id="{59751E57-7428-9C06-430C-9D5542BD26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6">
            <a:extLst>
              <a:ext uri="{FF2B5EF4-FFF2-40B4-BE49-F238E27FC236}">
                <a16:creationId xmlns:a16="http://schemas.microsoft.com/office/drawing/2014/main" id="{133DD2CB-CDC9-6048-C4F9-E38D9C3ABB78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11/30/25</a:t>
            </a:r>
            <a:endParaRPr/>
          </a:p>
        </p:txBody>
      </p:sp>
      <p:sp>
        <p:nvSpPr>
          <p:cNvPr id="124" name="Google Shape;124;p16">
            <a:extLst>
              <a:ext uri="{FF2B5EF4-FFF2-40B4-BE49-F238E27FC236}">
                <a16:creationId xmlns:a16="http://schemas.microsoft.com/office/drawing/2014/main" id="{E8917B84-66BF-491F-D963-17FECC7198F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sp>
        <p:nvSpPr>
          <p:cNvPr id="125" name="Google Shape;125;p16">
            <a:extLst>
              <a:ext uri="{FF2B5EF4-FFF2-40B4-BE49-F238E27FC236}">
                <a16:creationId xmlns:a16="http://schemas.microsoft.com/office/drawing/2014/main" id="{3E8F48E1-ACB8-6DB5-01DD-AFF3BB0258E3}"/>
              </a:ext>
            </a:extLst>
          </p:cNvPr>
          <p:cNvSpPr txBox="1"/>
          <p:nvPr/>
        </p:nvSpPr>
        <p:spPr>
          <a:xfrm>
            <a:off x="971364" y="796537"/>
            <a:ext cx="10515600" cy="580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Project Wireframe</a:t>
            </a:r>
            <a:endParaRPr sz="2400" b="0" i="0" u="none" strike="noStrike" cap="none">
              <a:solidFill>
                <a:srgbClr val="0D0D0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7" name="Google Shape;127;p16">
            <a:extLst>
              <a:ext uri="{FF2B5EF4-FFF2-40B4-BE49-F238E27FC236}">
                <a16:creationId xmlns:a16="http://schemas.microsoft.com/office/drawing/2014/main" id="{D00980C9-2BFD-3785-FE07-D41F0711DC2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010943" y="6291124"/>
            <a:ext cx="1362250" cy="365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Google Shape;174;p7">
            <a:extLst>
              <a:ext uri="{FF2B5EF4-FFF2-40B4-BE49-F238E27FC236}">
                <a16:creationId xmlns:a16="http://schemas.microsoft.com/office/drawing/2014/main" id="{8C57D28D-BA8F-B7CD-BFED-8CB468AAA907}"/>
              </a:ext>
            </a:extLst>
          </p:cNvPr>
          <p:cNvPicPr preferRelativeResize="0"/>
          <p:nvPr/>
        </p:nvPicPr>
        <p:blipFill>
          <a:blip r:embed="rId4"/>
          <a:srcRect l="11795" r="11795"/>
          <a:stretch/>
        </p:blipFill>
        <p:spPr>
          <a:xfrm>
            <a:off x="426190" y="1856092"/>
            <a:ext cx="4933750" cy="3145809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 cmpd="sng">
            <a:solidFill>
              <a:srgbClr val="336EA8"/>
            </a:solidFill>
            <a:prstDash val="solid"/>
            <a:miter lim="800000"/>
            <a:headEnd type="none" w="sm" len="sm"/>
            <a:tailEnd type="none" w="sm" len="sm"/>
          </a:ln>
          <a:effectLst>
            <a:reflection stA="28000" endPos="28000" dist="5000" dir="5400000" sy="-100000" algn="bl" rotWithShape="0"/>
          </a:effectLst>
        </p:spPr>
      </p:pic>
      <p:pic>
        <p:nvPicPr>
          <p:cNvPr id="3" name="Google Shape;174;p7">
            <a:extLst>
              <a:ext uri="{FF2B5EF4-FFF2-40B4-BE49-F238E27FC236}">
                <a16:creationId xmlns:a16="http://schemas.microsoft.com/office/drawing/2014/main" id="{1AC68CAD-AA4D-514C-25A6-2589DF5180FF}"/>
              </a:ext>
            </a:extLst>
          </p:cNvPr>
          <p:cNvPicPr preferRelativeResize="0"/>
          <p:nvPr/>
        </p:nvPicPr>
        <p:blipFill>
          <a:blip r:embed="rId5"/>
          <a:srcRect l="9600" r="9600"/>
          <a:stretch/>
        </p:blipFill>
        <p:spPr>
          <a:xfrm>
            <a:off x="6488349" y="1856091"/>
            <a:ext cx="5212495" cy="3145809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 cmpd="sng">
            <a:solidFill>
              <a:srgbClr val="336EA8"/>
            </a:solidFill>
            <a:prstDash val="solid"/>
            <a:miter lim="800000"/>
            <a:headEnd type="none" w="sm" len="sm"/>
            <a:tailEnd type="none" w="sm" len="sm"/>
          </a:ln>
          <a:effectLst>
            <a:reflection stA="2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6414415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11/30/25</a:t>
            </a:r>
            <a:endParaRPr/>
          </a:p>
        </p:txBody>
      </p:sp>
      <p:sp>
        <p:nvSpPr>
          <p:cNvPr id="133" name="Google Shape;13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sp>
        <p:nvSpPr>
          <p:cNvPr id="134" name="Google Shape;134;p17"/>
          <p:cNvSpPr txBox="1"/>
          <p:nvPr/>
        </p:nvSpPr>
        <p:spPr>
          <a:xfrm>
            <a:off x="971364" y="796537"/>
            <a:ext cx="10515600" cy="580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End Users + Features</a:t>
            </a:r>
            <a:endParaRPr sz="2400" b="1" i="0" u="none" strike="noStrike" cap="none">
              <a:solidFill>
                <a:srgbClr val="0D0D0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17"/>
          <p:cNvSpPr txBox="1"/>
          <p:nvPr/>
        </p:nvSpPr>
        <p:spPr>
          <a:xfrm>
            <a:off x="904779" y="1397395"/>
            <a:ext cx="10382400" cy="487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Primary User Personas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22262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75"/>
              <a:buFont typeface="Arial"/>
              <a:buChar char="●"/>
            </a:pPr>
            <a:r>
              <a:rPr lang="en-US" sz="1475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Individual Developers</a:t>
            </a:r>
            <a:endParaRPr sz="1475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1" indent="-322262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75"/>
              <a:buFont typeface="Arial"/>
              <a:buChar char="○"/>
            </a:pPr>
            <a:r>
              <a:rPr lang="en-US" sz="147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Freelancers or hobbyists building projects in multiple languages.</a:t>
            </a:r>
            <a:endParaRPr sz="1475"/>
          </a:p>
          <a:p>
            <a:pPr marL="457200" marR="0" lvl="0" indent="-322262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75"/>
              <a:buFont typeface="Arial"/>
              <a:buChar char="●"/>
            </a:pPr>
            <a:r>
              <a:rPr lang="en-US" sz="1475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Software Teams &amp; Businesses</a:t>
            </a:r>
            <a:endParaRPr sz="1475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1" indent="-322262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75"/>
              <a:buFont typeface="Arial"/>
              <a:buChar char="○"/>
            </a:pPr>
            <a:r>
              <a:rPr lang="en-US" sz="147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Small to medium-sized teams needing standardized containerization.</a:t>
            </a:r>
            <a:endParaRPr sz="1475"/>
          </a:p>
          <a:p>
            <a:pPr marL="914400" marR="0" lvl="1" indent="-322262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75"/>
              <a:buFont typeface="Arial"/>
              <a:buChar char="○"/>
            </a:pPr>
            <a:r>
              <a:rPr lang="en-US" sz="147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DevOps engineers looking for quick deployment pipelines.</a:t>
            </a:r>
            <a:endParaRPr sz="1475"/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75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Key Features</a:t>
            </a:r>
            <a:endParaRPr sz="1475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22262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75"/>
              <a:buChar char="●"/>
            </a:pPr>
            <a:r>
              <a:rPr lang="en-US" sz="1475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Automated Project Analysis</a:t>
            </a:r>
            <a:r>
              <a:rPr lang="en-US" sz="1475"/>
              <a:t>: </a:t>
            </a:r>
            <a:r>
              <a:rPr lang="en-US" sz="147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Detects language, framework, and dependencies automatically.</a:t>
            </a:r>
            <a:endParaRPr sz="1475"/>
          </a:p>
          <a:p>
            <a:pPr marL="457200" marR="0" lvl="0" indent="-322262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75"/>
              <a:buChar char="●"/>
            </a:pPr>
            <a:r>
              <a:rPr lang="en-US" sz="1475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Dockerfile Generation</a:t>
            </a:r>
            <a:r>
              <a:rPr lang="en-US" sz="1475"/>
              <a:t>: </a:t>
            </a:r>
            <a:r>
              <a:rPr lang="en-US" sz="147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Creates ready-to-use Dockerfiles for various tech stacks.</a:t>
            </a:r>
            <a:endParaRPr sz="1475"/>
          </a:p>
          <a:p>
            <a:pPr marL="457200" marR="0" lvl="0" indent="-322262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75"/>
              <a:buChar char="●"/>
            </a:pPr>
            <a:r>
              <a:rPr lang="en-US" sz="1475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Docker-Compose Support</a:t>
            </a:r>
            <a:r>
              <a:rPr lang="en-US" sz="1475"/>
              <a:t>: </a:t>
            </a:r>
            <a:r>
              <a:rPr lang="en-US" sz="147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Handles multi-service applications with ease.</a:t>
            </a:r>
            <a:endParaRPr sz="1475"/>
          </a:p>
          <a:p>
            <a:pPr marL="457200" marR="0" lvl="0" indent="-322262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75"/>
              <a:buChar char="●"/>
            </a:pPr>
            <a:r>
              <a:rPr lang="en-US" sz="1475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Docker Image Build &amp; Push</a:t>
            </a:r>
            <a:r>
              <a:rPr lang="en-US" sz="1475"/>
              <a:t>: </a:t>
            </a:r>
            <a:r>
              <a:rPr lang="en-US" sz="147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Builds images and optionally pushes to Docker Hub automatically.</a:t>
            </a:r>
            <a:endParaRPr sz="1475"/>
          </a:p>
          <a:p>
            <a:pPr marL="457200" marR="0" lvl="0" indent="-322262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75"/>
              <a:buChar char="●"/>
            </a:pPr>
            <a:r>
              <a:rPr lang="en-US" sz="1475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Container Management API</a:t>
            </a:r>
            <a:r>
              <a:rPr lang="en-US" sz="1475"/>
              <a:t>: </a:t>
            </a:r>
            <a:r>
              <a:rPr lang="en-US" sz="147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Start, stop, and list Docker containers programmatically.</a:t>
            </a:r>
            <a:endParaRPr sz="1475"/>
          </a:p>
          <a:p>
            <a:pPr marL="457200" marR="0" lvl="0" indent="-322262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75"/>
              <a:buChar char="●"/>
            </a:pPr>
            <a:r>
              <a:rPr lang="en-US" sz="1475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Multi-Language &amp; Static HTML Support</a:t>
            </a:r>
            <a:r>
              <a:rPr lang="en-US" sz="1475"/>
              <a:t>: </a:t>
            </a:r>
            <a:r>
              <a:rPr lang="en-US" sz="147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Works for Node.js, React, Vue, Python, Java, PHP, Ruby, and HTML projects</a:t>
            </a:r>
            <a:endParaRPr sz="1475"/>
          </a:p>
        </p:txBody>
      </p:sp>
      <p:pic>
        <p:nvPicPr>
          <p:cNvPr id="136" name="Google Shape;136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010943" y="6291124"/>
            <a:ext cx="1362250" cy="365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11/30/25</a:t>
            </a:r>
            <a:endParaRPr/>
          </a:p>
        </p:txBody>
      </p:sp>
      <p:sp>
        <p:nvSpPr>
          <p:cNvPr id="142" name="Google Shape;142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sp>
        <p:nvSpPr>
          <p:cNvPr id="143" name="Google Shape;143;p18"/>
          <p:cNvSpPr txBox="1"/>
          <p:nvPr/>
        </p:nvSpPr>
        <p:spPr>
          <a:xfrm>
            <a:off x="971364" y="796537"/>
            <a:ext cx="10515600" cy="58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End Users + Features</a:t>
            </a:r>
            <a:endParaRPr sz="2400" b="1" i="0" u="none" strike="noStrike" cap="none">
              <a:solidFill>
                <a:srgbClr val="0D0D0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18"/>
          <p:cNvSpPr txBox="1"/>
          <p:nvPr/>
        </p:nvSpPr>
        <p:spPr>
          <a:xfrm>
            <a:off x="1037975" y="2564400"/>
            <a:ext cx="10382400" cy="19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How Features Solve User Problems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33655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75"/>
              <a:buFont typeface="Arial"/>
              <a:buChar char="•"/>
            </a:pPr>
            <a:r>
              <a:rPr lang="en-US" sz="1675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Saves time &amp; reduces errors</a:t>
            </a:r>
            <a:r>
              <a:rPr lang="en-US" sz="167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Developers no longer write Dockerfiles manually.</a:t>
            </a:r>
            <a:endParaRPr sz="1675"/>
          </a:p>
          <a:p>
            <a:pPr marL="285750" marR="0" lvl="0" indent="-33655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75"/>
              <a:buFont typeface="Arial"/>
              <a:buChar char="•"/>
            </a:pPr>
            <a:r>
              <a:rPr lang="en-US" sz="1675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Standardizes deployment</a:t>
            </a:r>
            <a:r>
              <a:rPr lang="en-US" sz="167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Teams get consistent container setups across projects.</a:t>
            </a:r>
            <a:endParaRPr sz="1675"/>
          </a:p>
          <a:p>
            <a:pPr marL="285750" marR="0" lvl="0" indent="-33655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75"/>
              <a:buFont typeface="Arial"/>
              <a:buChar char="•"/>
            </a:pPr>
            <a:r>
              <a:rPr lang="en-US" sz="1675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Simplifies multi-language projects</a:t>
            </a:r>
            <a:r>
              <a:rPr lang="en-US" sz="167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One platform handles multiple tech stacks.</a:t>
            </a:r>
            <a:endParaRPr sz="1675"/>
          </a:p>
          <a:p>
            <a:pPr marL="285750" marR="0" lvl="0" indent="-33655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75"/>
              <a:buFont typeface="Arial"/>
              <a:buChar char="•"/>
            </a:pPr>
            <a:r>
              <a:rPr lang="en-US" sz="1675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Speeds up DevOps workflows</a:t>
            </a:r>
            <a:r>
              <a:rPr lang="en-US" sz="167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Quick build and deployment through automation.</a:t>
            </a:r>
            <a:endParaRPr sz="1675"/>
          </a:p>
        </p:txBody>
      </p:sp>
      <p:pic>
        <p:nvPicPr>
          <p:cNvPr id="145" name="Google Shape;145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010943" y="6291124"/>
            <a:ext cx="1362251" cy="365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11/30/25</a:t>
            </a:r>
            <a:endParaRPr/>
          </a:p>
        </p:txBody>
      </p:sp>
      <p:sp>
        <p:nvSpPr>
          <p:cNvPr id="151" name="Google Shape;151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sp>
        <p:nvSpPr>
          <p:cNvPr id="152" name="Google Shape;152;p19"/>
          <p:cNvSpPr txBox="1"/>
          <p:nvPr/>
        </p:nvSpPr>
        <p:spPr>
          <a:xfrm>
            <a:off x="971364" y="796537"/>
            <a:ext cx="10515600" cy="58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400" b="1" dirty="0"/>
              <a:t>Data Structure</a:t>
            </a:r>
            <a:endParaRPr sz="2400" b="1" i="0" u="none" strike="noStrike" cap="none" dirty="0">
              <a:solidFill>
                <a:srgbClr val="0D0D0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3" name="Google Shape;153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010943" y="6291124"/>
            <a:ext cx="1362251" cy="365125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9"/>
          <p:cNvSpPr txBox="1"/>
          <p:nvPr/>
        </p:nvSpPr>
        <p:spPr>
          <a:xfrm>
            <a:off x="709800" y="1273950"/>
            <a:ext cx="10413000" cy="128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</a:rPr>
              <a:t>Database Architecture</a:t>
            </a:r>
            <a:endParaRPr sz="2000" b="1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 b="1">
                <a:solidFill>
                  <a:schemeClr val="dk1"/>
                </a:solidFill>
              </a:rPr>
              <a:t>Type:</a:t>
            </a:r>
            <a:r>
              <a:rPr lang="en-US" sz="1800">
                <a:solidFill>
                  <a:schemeClr val="dk1"/>
                </a:solidFill>
              </a:rPr>
              <a:t> Relational (SQL-based)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 b="1">
                <a:solidFill>
                  <a:schemeClr val="dk1"/>
                </a:solidFill>
              </a:rPr>
              <a:t>Purpose:</a:t>
            </a:r>
            <a:r>
              <a:rPr lang="en-US" sz="1800">
                <a:solidFill>
                  <a:schemeClr val="dk1"/>
                </a:solidFill>
              </a:rPr>
              <a:t> Store user credentials, GitHub repository info, Docker images, and container states.</a:t>
            </a:r>
            <a:endParaRPr sz="1800">
              <a:solidFill>
                <a:schemeClr val="dk1"/>
              </a:solidFill>
            </a:endParaRPr>
          </a:p>
        </p:txBody>
      </p:sp>
      <p:graphicFrame>
        <p:nvGraphicFramePr>
          <p:cNvPr id="155" name="Google Shape;155;p19"/>
          <p:cNvGraphicFramePr/>
          <p:nvPr/>
        </p:nvGraphicFramePr>
        <p:xfrm>
          <a:off x="770225" y="2890800"/>
          <a:ext cx="10917875" cy="2622095"/>
        </p:xfrm>
        <a:graphic>
          <a:graphicData uri="http://schemas.openxmlformats.org/drawingml/2006/table">
            <a:tbl>
              <a:tblPr>
                <a:noFill/>
                <a:tableStyleId>{719B0882-F717-4049-BF07-251CE05192C8}</a:tableStyleId>
              </a:tblPr>
              <a:tblGrid>
                <a:gridCol w="1260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55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51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501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71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/>
                        <a:t>Entity</a:t>
                      </a:r>
                      <a:endParaRPr sz="11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/>
                        <a:t>Description</a:t>
                      </a:r>
                      <a:endParaRPr sz="11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/>
                        <a:t>Key Attributes</a:t>
                      </a:r>
                      <a:endParaRPr sz="11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/>
                        <a:t>Relationships</a:t>
                      </a:r>
                      <a:endParaRPr sz="1100" b="1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/>
                        <a:t>User</a:t>
                      </a:r>
                      <a:endParaRPr sz="11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Platform users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id (PK), name, email, GitHub token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One-to-Many with Repositories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/>
                        <a:t>Repository</a:t>
                      </a:r>
                      <a:endParaRPr sz="11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GitHub repositories linked to users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id (PK), user_id (FK), name, clone_url, language, framework, last_updated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Belongs to User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/>
                        <a:t>DockerImages</a:t>
                      </a:r>
                      <a:endParaRPr sz="11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Docker images created from repositories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id (PK), repo_id (FK), image_name, ports, status, created_at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Belongs to Repository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/>
                        <a:t>Container</a:t>
                      </a:r>
                      <a:endParaRPr sz="11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Running/stopped containers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id (PK), image_id (FK), container_id, status, started_at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Belongs to DockerImage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>
          <a:extLst>
            <a:ext uri="{FF2B5EF4-FFF2-40B4-BE49-F238E27FC236}">
              <a16:creationId xmlns:a16="http://schemas.microsoft.com/office/drawing/2014/main" id="{3828D7BD-56F5-C6C1-BFC0-7ADED5FF5F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0">
            <a:extLst>
              <a:ext uri="{FF2B5EF4-FFF2-40B4-BE49-F238E27FC236}">
                <a16:creationId xmlns:a16="http://schemas.microsoft.com/office/drawing/2014/main" id="{3CD8AA47-78B5-4BCF-5668-D1BD28EE39DE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11/30/25</a:t>
            </a:r>
            <a:endParaRPr/>
          </a:p>
        </p:txBody>
      </p:sp>
      <p:sp>
        <p:nvSpPr>
          <p:cNvPr id="161" name="Google Shape;161;p20">
            <a:extLst>
              <a:ext uri="{FF2B5EF4-FFF2-40B4-BE49-F238E27FC236}">
                <a16:creationId xmlns:a16="http://schemas.microsoft.com/office/drawing/2014/main" id="{9D62EBA2-2B4C-9921-CD32-74A3277FC97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sp>
        <p:nvSpPr>
          <p:cNvPr id="162" name="Google Shape;162;p20">
            <a:extLst>
              <a:ext uri="{FF2B5EF4-FFF2-40B4-BE49-F238E27FC236}">
                <a16:creationId xmlns:a16="http://schemas.microsoft.com/office/drawing/2014/main" id="{E660CE00-310D-4C11-C6DC-3490955D37D2}"/>
              </a:ext>
            </a:extLst>
          </p:cNvPr>
          <p:cNvSpPr txBox="1"/>
          <p:nvPr/>
        </p:nvSpPr>
        <p:spPr>
          <a:xfrm>
            <a:off x="971364" y="796537"/>
            <a:ext cx="10515600" cy="58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ctr">
              <a:lnSpc>
                <a:spcPct val="90000"/>
              </a:lnSpc>
              <a:spcBef>
                <a:spcPts val="1000"/>
              </a:spcBef>
            </a:pPr>
            <a:r>
              <a:rPr lang="en-US" sz="2400" b="1" dirty="0"/>
              <a:t>Data Structure</a:t>
            </a:r>
            <a:endParaRPr lang="en-US" sz="2400" b="1" dirty="0">
              <a:solidFill>
                <a:srgbClr val="0D0D0D"/>
              </a:solidFill>
            </a:endParaRPr>
          </a:p>
        </p:txBody>
      </p:sp>
      <p:sp>
        <p:nvSpPr>
          <p:cNvPr id="163" name="Google Shape;163;p20">
            <a:extLst>
              <a:ext uri="{FF2B5EF4-FFF2-40B4-BE49-F238E27FC236}">
                <a16:creationId xmlns:a16="http://schemas.microsoft.com/office/drawing/2014/main" id="{471D9719-812B-A544-34DD-1ED55D5BC2B0}"/>
              </a:ext>
            </a:extLst>
          </p:cNvPr>
          <p:cNvSpPr txBox="1"/>
          <p:nvPr/>
        </p:nvSpPr>
        <p:spPr>
          <a:xfrm>
            <a:off x="1037975" y="1770434"/>
            <a:ext cx="10382400" cy="40077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2400" b="1" dirty="0"/>
              <a:t>Data Flow</a:t>
            </a:r>
            <a:endParaRPr lang="en-US" sz="2400" dirty="0"/>
          </a:p>
          <a:p>
            <a:r>
              <a:rPr lang="en-US" sz="1800" b="1" dirty="0"/>
              <a:t>Collection</a:t>
            </a:r>
            <a:endParaRPr lang="en-US" sz="1800" dirty="0"/>
          </a:p>
          <a:p>
            <a:pPr marL="285750" lvl="2" indent="-285750">
              <a:buFont typeface="Arial" panose="020B0604020202020204" pitchFamily="34" charset="0"/>
              <a:buChar char="•"/>
            </a:pPr>
            <a:r>
              <a:rPr lang="en-US" sz="1800" dirty="0"/>
              <a:t>Users provide a GitHub token → API fetches repositories via GitHub API.</a:t>
            </a:r>
          </a:p>
          <a:p>
            <a:r>
              <a:rPr lang="en-US" sz="1800" b="1" dirty="0"/>
              <a:t>Storage</a:t>
            </a: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Repositories and generated Docker images are stored in the database.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sz="1800" dirty="0"/>
              <a:t>Container statuses are updated in real-time using the </a:t>
            </a:r>
            <a:r>
              <a:rPr lang="en-US" sz="1800" dirty="0" err="1"/>
              <a:t>Dockerode</a:t>
            </a:r>
            <a:r>
              <a:rPr lang="en-US" sz="1800" dirty="0"/>
              <a:t> API.</a:t>
            </a:r>
          </a:p>
          <a:p>
            <a:r>
              <a:rPr lang="en-US" sz="1800" b="1" dirty="0"/>
              <a:t>Access</a:t>
            </a:r>
            <a:endParaRPr lang="en-US" sz="1800" dirty="0"/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sz="1800" dirty="0"/>
              <a:t>Users query repositories, build images, or manage containers via API endpoints.</a:t>
            </a:r>
          </a:p>
          <a:p>
            <a:r>
              <a:rPr lang="en-US" sz="1800" b="1" dirty="0"/>
              <a:t>Additional Notes</a:t>
            </a:r>
            <a:endParaRPr lang="en-US" sz="1800" dirty="0"/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sz="1800" dirty="0"/>
              <a:t>Static HTML projects are detected from file existence (index.html) instead of database metadata.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sz="1800" dirty="0"/>
              <a:t>The system can be extended to store multi-service configurations in a JSON column for flexibility.</a:t>
            </a:r>
          </a:p>
        </p:txBody>
      </p:sp>
      <p:pic>
        <p:nvPicPr>
          <p:cNvPr id="164" name="Google Shape;164;p20">
            <a:extLst>
              <a:ext uri="{FF2B5EF4-FFF2-40B4-BE49-F238E27FC236}">
                <a16:creationId xmlns:a16="http://schemas.microsoft.com/office/drawing/2014/main" id="{2AEF4C33-A9EB-9B00-2B4B-E631F6FBBA8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010943" y="6291124"/>
            <a:ext cx="1362251" cy="3651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858641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>
          <a:extLst>
            <a:ext uri="{FF2B5EF4-FFF2-40B4-BE49-F238E27FC236}">
              <a16:creationId xmlns:a16="http://schemas.microsoft.com/office/drawing/2014/main" id="{A2A1EC6A-C6D2-FBBC-0C50-D5A090F34E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0">
            <a:extLst>
              <a:ext uri="{FF2B5EF4-FFF2-40B4-BE49-F238E27FC236}">
                <a16:creationId xmlns:a16="http://schemas.microsoft.com/office/drawing/2014/main" id="{2F4AF1FC-D38D-D05C-CC60-0B9618A85C59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11/30/25</a:t>
            </a:r>
            <a:endParaRPr/>
          </a:p>
        </p:txBody>
      </p:sp>
      <p:sp>
        <p:nvSpPr>
          <p:cNvPr id="161" name="Google Shape;161;p20">
            <a:extLst>
              <a:ext uri="{FF2B5EF4-FFF2-40B4-BE49-F238E27FC236}">
                <a16:creationId xmlns:a16="http://schemas.microsoft.com/office/drawing/2014/main" id="{D5C6B59E-2A1A-6D7A-6348-5ECB83F40CA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sp>
        <p:nvSpPr>
          <p:cNvPr id="162" name="Google Shape;162;p20">
            <a:extLst>
              <a:ext uri="{FF2B5EF4-FFF2-40B4-BE49-F238E27FC236}">
                <a16:creationId xmlns:a16="http://schemas.microsoft.com/office/drawing/2014/main" id="{E3003407-2305-F8F1-74BA-7BE3E3EC02FA}"/>
              </a:ext>
            </a:extLst>
          </p:cNvPr>
          <p:cNvSpPr txBox="1"/>
          <p:nvPr/>
        </p:nvSpPr>
        <p:spPr>
          <a:xfrm>
            <a:off x="971364" y="796537"/>
            <a:ext cx="10515600" cy="58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ctr">
              <a:lnSpc>
                <a:spcPct val="90000"/>
              </a:lnSpc>
              <a:spcBef>
                <a:spcPts val="1000"/>
              </a:spcBef>
              <a:buClr>
                <a:srgbClr val="0D0D0D"/>
              </a:buClr>
              <a:buSzPct val="100000"/>
            </a:pPr>
            <a:r>
              <a:rPr lang="en-US" sz="2400" b="1" dirty="0">
                <a:solidFill>
                  <a:srgbClr val="0D0D0D"/>
                </a:solidFill>
              </a:rPr>
              <a:t>Programming Languages + Frameworks</a:t>
            </a:r>
            <a:endParaRPr lang="en-US" sz="2400" dirty="0"/>
          </a:p>
        </p:txBody>
      </p:sp>
      <p:sp>
        <p:nvSpPr>
          <p:cNvPr id="163" name="Google Shape;163;p20">
            <a:extLst>
              <a:ext uri="{FF2B5EF4-FFF2-40B4-BE49-F238E27FC236}">
                <a16:creationId xmlns:a16="http://schemas.microsoft.com/office/drawing/2014/main" id="{AE91B98C-702B-DC88-DDB9-74F5B4B0B516}"/>
              </a:ext>
            </a:extLst>
          </p:cNvPr>
          <p:cNvSpPr txBox="1"/>
          <p:nvPr/>
        </p:nvSpPr>
        <p:spPr>
          <a:xfrm>
            <a:off x="971364" y="1560426"/>
            <a:ext cx="10382400" cy="4501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2000" b="1" dirty="0"/>
              <a:t>Main Programming Languages</a:t>
            </a: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JavaScript </a:t>
            </a:r>
            <a:r>
              <a:rPr lang="en-US" sz="2000" dirty="0"/>
              <a:t>– Core language for server (Node.js/Express) and client (React)</a:t>
            </a:r>
          </a:p>
          <a:p>
            <a:r>
              <a:rPr lang="en-US" sz="2000" b="1" dirty="0"/>
              <a:t>Frameworks &amp; Tools</a:t>
            </a: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React</a:t>
            </a:r>
            <a:r>
              <a:rPr lang="en-US" sz="2000" dirty="0"/>
              <a:t> – Frontend interface of the platform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Express.js</a:t>
            </a:r>
            <a:r>
              <a:rPr lang="en-US" sz="2000" dirty="0"/>
              <a:t> – Backend API server</a:t>
            </a:r>
          </a:p>
          <a:p>
            <a:r>
              <a:rPr lang="en-US" sz="2000" b="1" dirty="0"/>
              <a:t>Docker / Docker Compose</a:t>
            </a:r>
            <a:r>
              <a:rPr lang="en-US" sz="2000" dirty="0"/>
              <a:t> – Containerization and orchestration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Axios</a:t>
            </a:r>
            <a:r>
              <a:rPr lang="en-US" sz="2000" dirty="0"/>
              <a:t> – API requests (GitHub integration)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simple-git</a:t>
            </a:r>
            <a:r>
              <a:rPr lang="en-US" sz="2000" dirty="0"/>
              <a:t> – Git repository cloning and management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fs-extra</a:t>
            </a:r>
            <a:r>
              <a:rPr lang="en-US" sz="2000" dirty="0"/>
              <a:t> – File system operations</a:t>
            </a:r>
          </a:p>
          <a:p>
            <a:r>
              <a:rPr lang="en-US" sz="2000" b="1" dirty="0"/>
              <a:t>Supporting Technologies</a:t>
            </a:r>
            <a:endParaRPr lang="en-US" sz="2000" dirty="0"/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GitHub API</a:t>
            </a:r>
            <a:r>
              <a:rPr lang="en-US" sz="2000" dirty="0"/>
              <a:t> – Fetch repository data and metadata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Docker Hub</a:t>
            </a:r>
            <a:r>
              <a:rPr lang="en-US" sz="2000" dirty="0"/>
              <a:t> – Push and store Docker images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CORS &amp; JSON middleware</a:t>
            </a:r>
            <a:r>
              <a:rPr lang="en-US" sz="2000" dirty="0"/>
              <a:t> – Secure and structured API communication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Cloud Platforms</a:t>
            </a:r>
            <a:r>
              <a:rPr lang="en-US" sz="2000" dirty="0"/>
              <a:t> – Can deploy on AWS, Azure, or GCP</a:t>
            </a:r>
          </a:p>
        </p:txBody>
      </p:sp>
      <p:pic>
        <p:nvPicPr>
          <p:cNvPr id="164" name="Google Shape;164;p20">
            <a:extLst>
              <a:ext uri="{FF2B5EF4-FFF2-40B4-BE49-F238E27FC236}">
                <a16:creationId xmlns:a16="http://schemas.microsoft.com/office/drawing/2014/main" id="{D8E7F508-F1F8-7DD9-DB70-8846CD7C01E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010943" y="6291124"/>
            <a:ext cx="1362251" cy="3651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691866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>
          <a:extLst>
            <a:ext uri="{FF2B5EF4-FFF2-40B4-BE49-F238E27FC236}">
              <a16:creationId xmlns:a16="http://schemas.microsoft.com/office/drawing/2014/main" id="{FCF4D1D6-D22F-267C-D538-CD6E6C0D9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0">
            <a:extLst>
              <a:ext uri="{FF2B5EF4-FFF2-40B4-BE49-F238E27FC236}">
                <a16:creationId xmlns:a16="http://schemas.microsoft.com/office/drawing/2014/main" id="{E7E38FB6-BE80-DEE7-C925-DC7885C71969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11/30/25</a:t>
            </a:r>
            <a:endParaRPr/>
          </a:p>
        </p:txBody>
      </p:sp>
      <p:sp>
        <p:nvSpPr>
          <p:cNvPr id="161" name="Google Shape;161;p20">
            <a:extLst>
              <a:ext uri="{FF2B5EF4-FFF2-40B4-BE49-F238E27FC236}">
                <a16:creationId xmlns:a16="http://schemas.microsoft.com/office/drawing/2014/main" id="{9D14F22C-D527-6630-39CB-6C62ADDB665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sp>
        <p:nvSpPr>
          <p:cNvPr id="162" name="Google Shape;162;p20">
            <a:extLst>
              <a:ext uri="{FF2B5EF4-FFF2-40B4-BE49-F238E27FC236}">
                <a16:creationId xmlns:a16="http://schemas.microsoft.com/office/drawing/2014/main" id="{53119882-EA84-BBBF-5DC7-C582A40C258D}"/>
              </a:ext>
            </a:extLst>
          </p:cNvPr>
          <p:cNvSpPr txBox="1"/>
          <p:nvPr/>
        </p:nvSpPr>
        <p:spPr>
          <a:xfrm>
            <a:off x="971364" y="796537"/>
            <a:ext cx="10515600" cy="58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ctr">
              <a:lnSpc>
                <a:spcPct val="90000"/>
              </a:lnSpc>
              <a:spcBef>
                <a:spcPts val="1000"/>
              </a:spcBef>
              <a:buClr>
                <a:srgbClr val="0D0D0D"/>
              </a:buClr>
              <a:buSzPct val="100000"/>
            </a:pPr>
            <a:r>
              <a:rPr lang="en-US" sz="2400" b="1" dirty="0">
                <a:solidFill>
                  <a:srgbClr val="0D0D0D"/>
                </a:solidFill>
              </a:rPr>
              <a:t>Deliverables (Reports, etc.)</a:t>
            </a:r>
            <a:endParaRPr lang="en-US" sz="2400" dirty="0"/>
          </a:p>
        </p:txBody>
      </p:sp>
      <p:sp>
        <p:nvSpPr>
          <p:cNvPr id="163" name="Google Shape;163;p20">
            <a:extLst>
              <a:ext uri="{FF2B5EF4-FFF2-40B4-BE49-F238E27FC236}">
                <a16:creationId xmlns:a16="http://schemas.microsoft.com/office/drawing/2014/main" id="{547FBA3C-727B-26C7-1F2E-3D8ABF1A7F49}"/>
              </a:ext>
            </a:extLst>
          </p:cNvPr>
          <p:cNvSpPr txBox="1"/>
          <p:nvPr/>
        </p:nvSpPr>
        <p:spPr>
          <a:xfrm>
            <a:off x="971364" y="1560426"/>
            <a:ext cx="10382400" cy="4501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2000" b="1" dirty="0"/>
              <a:t>1. Reports &amp; Documentation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b="1" dirty="0"/>
              <a:t>Technical Documentation:</a:t>
            </a:r>
            <a:r>
              <a:rPr lang="en-US" sz="1800" dirty="0"/>
              <a:t> Detailed description of the system architecture, database design, API endpoints, and deployment process.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b="1" dirty="0"/>
              <a:t>User Manual:</a:t>
            </a:r>
            <a:r>
              <a:rPr lang="en-US" sz="1800" dirty="0"/>
              <a:t> Step-by-step guide for end-users explaining how to use the application.</a:t>
            </a:r>
            <a:endParaRPr lang="ar-EG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ar-EG" sz="1600" dirty="0"/>
          </a:p>
          <a:p>
            <a:r>
              <a:rPr lang="en-US" sz="2000" b="1" dirty="0"/>
              <a:t>2. Timeline for Deliverables</a:t>
            </a: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Week 1:</a:t>
            </a:r>
            <a:r>
              <a:rPr lang="en-US" sz="1800" dirty="0"/>
              <a:t> Requirements analysis, system design, and architecture planning.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Week 2-3:</a:t>
            </a:r>
            <a:r>
              <a:rPr lang="en-US" sz="1800" dirty="0"/>
              <a:t> Development of main features (frontend + backend).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Week 4:</a:t>
            </a:r>
            <a:r>
              <a:rPr lang="en-US" sz="1800" dirty="0"/>
              <a:t> Testing, bug fixes, and final adjustments.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Week 5:</a:t>
            </a:r>
            <a:r>
              <a:rPr lang="en-US" sz="1800" dirty="0"/>
              <a:t> Final documentation, deployment, and project handover.</a:t>
            </a:r>
          </a:p>
          <a:p>
            <a:endParaRPr lang="en-US" sz="1600" dirty="0"/>
          </a:p>
          <a:p>
            <a:r>
              <a:rPr lang="en-US" sz="2000" b="1" dirty="0"/>
              <a:t>3. Final Products</a:t>
            </a: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Fully working web application (deployed or locally runnable via Docker).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Complete source code repository (GitHub/GitLab).</a:t>
            </a:r>
          </a:p>
          <a:p>
            <a:endParaRPr lang="en-US" sz="1600" dirty="0"/>
          </a:p>
        </p:txBody>
      </p:sp>
      <p:pic>
        <p:nvPicPr>
          <p:cNvPr id="164" name="Google Shape;164;p20">
            <a:extLst>
              <a:ext uri="{FF2B5EF4-FFF2-40B4-BE49-F238E27FC236}">
                <a16:creationId xmlns:a16="http://schemas.microsoft.com/office/drawing/2014/main" id="{AE2771A6-AD82-3C3C-0EE3-A1446831E0D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010943" y="6291124"/>
            <a:ext cx="1362251" cy="3651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688025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>
          <a:extLst>
            <a:ext uri="{FF2B5EF4-FFF2-40B4-BE49-F238E27FC236}">
              <a16:creationId xmlns:a16="http://schemas.microsoft.com/office/drawing/2014/main" id="{4FB4010A-8C9D-8E61-0999-FA3E601944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0">
            <a:extLst>
              <a:ext uri="{FF2B5EF4-FFF2-40B4-BE49-F238E27FC236}">
                <a16:creationId xmlns:a16="http://schemas.microsoft.com/office/drawing/2014/main" id="{006A9E25-974C-BAEE-CFA3-4991073CFF1F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11/30/25</a:t>
            </a:r>
            <a:endParaRPr/>
          </a:p>
        </p:txBody>
      </p:sp>
      <p:sp>
        <p:nvSpPr>
          <p:cNvPr id="161" name="Google Shape;161;p20">
            <a:extLst>
              <a:ext uri="{FF2B5EF4-FFF2-40B4-BE49-F238E27FC236}">
                <a16:creationId xmlns:a16="http://schemas.microsoft.com/office/drawing/2014/main" id="{63F797F2-BEE8-FC2D-D9A8-D23CF1E75B8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sp>
        <p:nvSpPr>
          <p:cNvPr id="162" name="Google Shape;162;p20">
            <a:extLst>
              <a:ext uri="{FF2B5EF4-FFF2-40B4-BE49-F238E27FC236}">
                <a16:creationId xmlns:a16="http://schemas.microsoft.com/office/drawing/2014/main" id="{844FB256-D417-9EA9-CB63-6DA78A8328DF}"/>
              </a:ext>
            </a:extLst>
          </p:cNvPr>
          <p:cNvSpPr txBox="1"/>
          <p:nvPr/>
        </p:nvSpPr>
        <p:spPr>
          <a:xfrm>
            <a:off x="971400" y="690093"/>
            <a:ext cx="10515600" cy="58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ctr">
              <a:lnSpc>
                <a:spcPct val="90000"/>
              </a:lnSpc>
              <a:spcBef>
                <a:spcPts val="1000"/>
              </a:spcBef>
              <a:buClr>
                <a:srgbClr val="0D0D0D"/>
              </a:buClr>
              <a:buSzPct val="100000"/>
            </a:pPr>
            <a:r>
              <a:rPr lang="en-US" sz="2400" b="1" dirty="0">
                <a:solidFill>
                  <a:srgbClr val="0D0D0D"/>
                </a:solidFill>
              </a:rPr>
              <a:t>Project Team + Roles</a:t>
            </a:r>
            <a:endParaRPr lang="en-US" sz="2400" dirty="0"/>
          </a:p>
        </p:txBody>
      </p:sp>
      <p:sp>
        <p:nvSpPr>
          <p:cNvPr id="163" name="Google Shape;163;p20">
            <a:extLst>
              <a:ext uri="{FF2B5EF4-FFF2-40B4-BE49-F238E27FC236}">
                <a16:creationId xmlns:a16="http://schemas.microsoft.com/office/drawing/2014/main" id="{950526DA-9165-C6A2-F93B-A54E32FB632F}"/>
              </a:ext>
            </a:extLst>
          </p:cNvPr>
          <p:cNvSpPr txBox="1"/>
          <p:nvPr/>
        </p:nvSpPr>
        <p:spPr>
          <a:xfrm>
            <a:off x="971400" y="1303506"/>
            <a:ext cx="10382400" cy="4757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b="1" dirty="0"/>
              <a:t>Core Team (roles &amp; short responsibilities)</a:t>
            </a:r>
          </a:p>
          <a:p>
            <a:endParaRPr lang="en-US" dirty="0"/>
          </a:p>
          <a:p>
            <a:r>
              <a:rPr lang="en-US" b="1" dirty="0"/>
              <a:t>Nour Elden Hany — Backend, Presenter &amp; Documentation</a:t>
            </a:r>
            <a:endParaRPr lang="en-US" dirty="0"/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dirty="0"/>
              <a:t>Implement backend APIs (project analysis, </a:t>
            </a:r>
            <a:r>
              <a:rPr lang="en-US" dirty="0" err="1"/>
              <a:t>dockerize</a:t>
            </a:r>
            <a:r>
              <a:rPr lang="en-US" dirty="0"/>
              <a:t> endpoints, </a:t>
            </a:r>
            <a:r>
              <a:rPr lang="en-US" dirty="0" err="1"/>
              <a:t>Dockerode</a:t>
            </a:r>
            <a:r>
              <a:rPr lang="en-US" dirty="0"/>
              <a:t> integration)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dirty="0"/>
              <a:t>Prepare and deliver the presentation; produce technical docs, user &amp; developer guides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dirty="0"/>
              <a:t>Assisted in </a:t>
            </a:r>
            <a:r>
              <a:rPr lang="en-US" dirty="0" err="1"/>
              <a:t>dockerization</a:t>
            </a:r>
            <a:r>
              <a:rPr lang="en-US" dirty="0"/>
              <a:t> flow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b="1" dirty="0"/>
              <a:t>Zeyad Hossam — </a:t>
            </a:r>
            <a:r>
              <a:rPr lang="en-US" b="1" dirty="0" err="1"/>
              <a:t>Dockerization</a:t>
            </a:r>
            <a:r>
              <a:rPr lang="en-US" b="1" dirty="0"/>
              <a:t>, Frontend Support</a:t>
            </a:r>
            <a:endParaRPr lang="en-US" dirty="0"/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dirty="0"/>
              <a:t>Design &amp; implement </a:t>
            </a:r>
            <a:r>
              <a:rPr lang="en-US" dirty="0" err="1"/>
              <a:t>Dockerfile</a:t>
            </a:r>
            <a:r>
              <a:rPr lang="en-US" dirty="0"/>
              <a:t> generation logic and build/push pipeline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dirty="0"/>
              <a:t>Integrate docker-compose and host/docker-socket handling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dirty="0"/>
              <a:t>Helped with frontend troubleshooting and build integration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b="1" dirty="0"/>
              <a:t>Ali Essam — Frontend Developer</a:t>
            </a:r>
            <a:endParaRPr lang="en-US" dirty="0"/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dirty="0"/>
              <a:t>Build React UI for repository selection, </a:t>
            </a:r>
            <a:r>
              <a:rPr lang="en-US" dirty="0" err="1"/>
              <a:t>dockerize</a:t>
            </a:r>
            <a:r>
              <a:rPr lang="en-US" dirty="0"/>
              <a:t> form, and status pages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dirty="0"/>
              <a:t>Implement API consumption, routing and UX elements (toasts, loaders)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b="1" dirty="0"/>
              <a:t>Mohamed Foad — Cloud &amp; Deployment (AWS)</a:t>
            </a:r>
            <a:endParaRPr lang="en-US" dirty="0"/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dirty="0"/>
              <a:t>Design deployment strategy and environment on AWS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dirty="0"/>
              <a:t>Prepare deployment scripts, registry setup and production runbooks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b="1" dirty="0"/>
              <a:t>Omar — Team Member</a:t>
            </a:r>
            <a:endParaRPr lang="en-US" dirty="0"/>
          </a:p>
          <a:p>
            <a:pPr lvl="1"/>
            <a:r>
              <a:rPr lang="en-US" dirty="0"/>
              <a:t>Member of the team (no contributions recorded yet)</a:t>
            </a:r>
          </a:p>
        </p:txBody>
      </p:sp>
      <p:pic>
        <p:nvPicPr>
          <p:cNvPr id="164" name="Google Shape;164;p20">
            <a:extLst>
              <a:ext uri="{FF2B5EF4-FFF2-40B4-BE49-F238E27FC236}">
                <a16:creationId xmlns:a16="http://schemas.microsoft.com/office/drawing/2014/main" id="{7759712F-0EDE-CD82-ED92-2383EB7AD8C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010943" y="6291124"/>
            <a:ext cx="1362251" cy="3651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115302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>
          <a:extLst>
            <a:ext uri="{FF2B5EF4-FFF2-40B4-BE49-F238E27FC236}">
              <a16:creationId xmlns:a16="http://schemas.microsoft.com/office/drawing/2014/main" id="{D4E32048-C56A-5BF6-4D0D-4616BE7186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0">
            <a:extLst>
              <a:ext uri="{FF2B5EF4-FFF2-40B4-BE49-F238E27FC236}">
                <a16:creationId xmlns:a16="http://schemas.microsoft.com/office/drawing/2014/main" id="{C08460A1-79A3-82F4-D392-DFC628392712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11/30/25</a:t>
            </a:r>
            <a:endParaRPr/>
          </a:p>
        </p:txBody>
      </p:sp>
      <p:sp>
        <p:nvSpPr>
          <p:cNvPr id="161" name="Google Shape;161;p20">
            <a:extLst>
              <a:ext uri="{FF2B5EF4-FFF2-40B4-BE49-F238E27FC236}">
                <a16:creationId xmlns:a16="http://schemas.microsoft.com/office/drawing/2014/main" id="{EC65260E-409B-A5EA-92D8-95DBC2FFF20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sp>
        <p:nvSpPr>
          <p:cNvPr id="162" name="Google Shape;162;p20">
            <a:extLst>
              <a:ext uri="{FF2B5EF4-FFF2-40B4-BE49-F238E27FC236}">
                <a16:creationId xmlns:a16="http://schemas.microsoft.com/office/drawing/2014/main" id="{E5C37CFF-AD78-E9F3-A55D-9AA1F8B9C08B}"/>
              </a:ext>
            </a:extLst>
          </p:cNvPr>
          <p:cNvSpPr txBox="1"/>
          <p:nvPr/>
        </p:nvSpPr>
        <p:spPr>
          <a:xfrm>
            <a:off x="838200" y="2848200"/>
            <a:ext cx="10515600" cy="58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ctr">
              <a:lnSpc>
                <a:spcPct val="90000"/>
              </a:lnSpc>
              <a:spcBef>
                <a:spcPts val="1000"/>
              </a:spcBef>
              <a:buClr>
                <a:srgbClr val="0D0D0D"/>
              </a:buClr>
              <a:buSzPct val="100000"/>
            </a:pPr>
            <a:r>
              <a:rPr lang="en-US" sz="7200" b="1" dirty="0">
                <a:solidFill>
                  <a:srgbClr val="0D0D0D"/>
                </a:solidFill>
              </a:rPr>
              <a:t>Thank You</a:t>
            </a:r>
            <a:endParaRPr lang="en-US" sz="7200" dirty="0"/>
          </a:p>
        </p:txBody>
      </p:sp>
      <p:pic>
        <p:nvPicPr>
          <p:cNvPr id="164" name="Google Shape;164;p20">
            <a:extLst>
              <a:ext uri="{FF2B5EF4-FFF2-40B4-BE49-F238E27FC236}">
                <a16:creationId xmlns:a16="http://schemas.microsoft.com/office/drawing/2014/main" id="{7F403F65-180E-7DC7-1071-D166734918D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010943" y="6291124"/>
            <a:ext cx="1362251" cy="3651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49968458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1021</Words>
  <Application>Microsoft Office PowerPoint</Application>
  <PresentationFormat>Widescreen</PresentationFormat>
  <Paragraphs>157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Theme1</vt:lpstr>
      <vt:lpstr>DepWay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Nour Elden Hany</dc:creator>
  <cp:lastModifiedBy>نور الدين هانى مصطفى يوسف ( 323230101 )</cp:lastModifiedBy>
  <cp:revision>1</cp:revision>
  <dcterms:modified xsi:type="dcterms:W3CDTF">2025-11-30T20:52:13Z</dcterms:modified>
</cp:coreProperties>
</file>